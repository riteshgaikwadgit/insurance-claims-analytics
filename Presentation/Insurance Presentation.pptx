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29480E9-6B8D-457A-A012-9FCB0DBA4BA1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717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80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133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448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672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803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96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ED1DB59-35DA-450B-8C54-F446C7387A2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4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090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96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82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ED1DB59-35DA-450B-8C54-F446C7387A2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334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905C18-3EA4-3246-0343-FD4A8F965C26}"/>
              </a:ext>
            </a:extLst>
          </p:cNvPr>
          <p:cNvSpPr txBox="1"/>
          <p:nvPr/>
        </p:nvSpPr>
        <p:spPr>
          <a:xfrm>
            <a:off x="127819" y="1671483"/>
            <a:ext cx="119363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Data Analysis</a:t>
            </a:r>
            <a:endParaRPr lang="en-IN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EB69E-C6FE-FF20-5B64-7C9803FD2248}"/>
              </a:ext>
            </a:extLst>
          </p:cNvPr>
          <p:cNvSpPr txBox="1"/>
          <p:nvPr/>
        </p:nvSpPr>
        <p:spPr>
          <a:xfrm>
            <a:off x="0" y="3429000"/>
            <a:ext cx="1219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Ritesh Gaikwad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Amol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valmiki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Kamble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Nitin Deshmukh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Kunal Prabhakar Gurav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Soumit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Ashmika K.V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Ashwini 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423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30B3E5-2DE7-AFDE-3E53-984B040BA4A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Index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59EAF3-4872-6024-8431-04D6FB55C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898134"/>
              </p:ext>
            </p:extLst>
          </p:nvPr>
        </p:nvGraphicFramePr>
        <p:xfrm>
          <a:off x="2628490" y="891525"/>
          <a:ext cx="6935019" cy="531262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6839">
                  <a:extLst>
                    <a:ext uri="{9D8B030D-6E8A-4147-A177-3AD203B41FA5}">
                      <a16:colId xmlns:a16="http://schemas.microsoft.com/office/drawing/2014/main" val="2015018968"/>
                    </a:ext>
                  </a:extLst>
                </a:gridCol>
                <a:gridCol w="5968180">
                  <a:extLst>
                    <a:ext uri="{9D8B030D-6E8A-4147-A177-3AD203B41FA5}">
                      <a16:colId xmlns:a16="http://schemas.microsoft.com/office/drawing/2014/main" val="3165384085"/>
                    </a:ext>
                  </a:extLst>
                </a:gridCol>
              </a:tblGrid>
              <a:tr h="4115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SLIDES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687992"/>
                  </a:ext>
                </a:extLst>
              </a:tr>
              <a:tr h="7001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6176224"/>
                  </a:ext>
                </a:extLst>
              </a:tr>
              <a:tr h="7001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Source &amp;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674409"/>
                  </a:ext>
                </a:extLst>
              </a:tr>
              <a:tr h="7001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KPI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8090611"/>
                  </a:ext>
                </a:extLst>
              </a:tr>
              <a:tr h="7001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 Overview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245277"/>
                  </a:ext>
                </a:extLst>
              </a:tr>
              <a:tr h="7001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Implementation</a:t>
                      </a:r>
                    </a:p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746649"/>
                  </a:ext>
                </a:extLst>
              </a:tr>
              <a:tr h="7001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 &amp; Suggestions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611321"/>
                  </a:ext>
                </a:extLst>
              </a:tr>
              <a:tr h="7001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 &amp; Learnings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687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764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5700-B57B-E4C9-08FA-F15CE17E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9174AF-26E2-03C1-B639-13243F5DA2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9368" y="1811478"/>
            <a:ext cx="994631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insurance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trends &amp;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I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ool Used:</a:t>
            </a: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MySQL → Data storage &amp; querying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Power BI → Dashboard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Tableau → Visualization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Excel → Data cleaning.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95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114390-8B94-3587-F76D-89B9162209B3}"/>
              </a:ext>
            </a:extLst>
          </p:cNvPr>
          <p:cNvSpPr txBox="1"/>
          <p:nvPr/>
        </p:nvSpPr>
        <p:spPr>
          <a:xfrm>
            <a:off x="0" y="6882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 Slides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3A0AC8-110F-038A-A92B-D4E29DF55F1D}"/>
              </a:ext>
            </a:extLst>
          </p:cNvPr>
          <p:cNvSpPr txBox="1"/>
          <p:nvPr/>
        </p:nvSpPr>
        <p:spPr>
          <a:xfrm>
            <a:off x="0" y="943897"/>
            <a:ext cx="12192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1: Total Policies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Business scale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3000 policies.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2: Total Customers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Customer base size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5000 customers.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3: Expiring Policies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Renewal opportunity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453 policies expiring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D80F4C-1425-C353-80B9-5EDD3068DB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2" t="7143"/>
          <a:stretch>
            <a:fillRect/>
          </a:stretch>
        </p:blipFill>
        <p:spPr>
          <a:xfrm>
            <a:off x="3982065" y="1581592"/>
            <a:ext cx="2732291" cy="8504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DFC1FA-CE4E-0612-CA94-159B83BF26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60"/>
          <a:stretch>
            <a:fillRect/>
          </a:stretch>
        </p:blipFill>
        <p:spPr>
          <a:xfrm>
            <a:off x="3904481" y="2934251"/>
            <a:ext cx="2809875" cy="8504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8CABB1-9967-9374-7E26-C62E8E66E7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60"/>
          <a:stretch>
            <a:fillRect/>
          </a:stretch>
        </p:blipFill>
        <p:spPr>
          <a:xfrm>
            <a:off x="3904481" y="4226447"/>
            <a:ext cx="2809875" cy="876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0134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1AF894-74EE-2AEA-15C2-FC071F91C2AC}"/>
              </a:ext>
            </a:extLst>
          </p:cNvPr>
          <p:cNvSpPr txBox="1"/>
          <p:nvPr/>
        </p:nvSpPr>
        <p:spPr>
          <a:xfrm>
            <a:off x="0" y="6882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43E46D-FCF9-6698-2FA8-5FF24DBDF65B}"/>
              </a:ext>
            </a:extLst>
          </p:cNvPr>
          <p:cNvSpPr txBox="1"/>
          <p:nvPr/>
        </p:nvSpPr>
        <p:spPr>
          <a:xfrm>
            <a:off x="0" y="855406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4: Age Bucket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60+ dominates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Older customers buy more policies.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1D089D-1C15-8D0D-44D6-47739E3E7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2279430"/>
            <a:ext cx="4514850" cy="31561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657369-66B1-E18E-3A2D-6C04A1035158}"/>
              </a:ext>
            </a:extLst>
          </p:cNvPr>
          <p:cNvSpPr txBox="1"/>
          <p:nvPr/>
        </p:nvSpPr>
        <p:spPr>
          <a:xfrm>
            <a:off x="6096000" y="855405"/>
            <a:ext cx="609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5: Policy Type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Health highest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Most preferred policy.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4B98FA-07D6-EB18-7410-7F11C787A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45" y="2279430"/>
            <a:ext cx="4514400" cy="31561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8667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F032D-4999-8A58-9D6A-BA249470B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E15A5A-43BB-7132-EB0C-9DAC98B19CB6}"/>
              </a:ext>
            </a:extLst>
          </p:cNvPr>
          <p:cNvSpPr txBox="1"/>
          <p:nvPr/>
        </p:nvSpPr>
        <p:spPr>
          <a:xfrm>
            <a:off x="0" y="6882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ED5509-2CA5-AC60-8D6D-6690656A7340}"/>
              </a:ext>
            </a:extLst>
          </p:cNvPr>
          <p:cNvSpPr txBox="1"/>
          <p:nvPr/>
        </p:nvSpPr>
        <p:spPr>
          <a:xfrm>
            <a:off x="0" y="855406"/>
            <a:ext cx="6096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6: Premium Growth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Business growth trend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Spike initially then stable growth.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9FF443-8663-0A7C-FA21-AD82D95D0745}"/>
              </a:ext>
            </a:extLst>
          </p:cNvPr>
          <p:cNvSpPr txBox="1"/>
          <p:nvPr/>
        </p:nvSpPr>
        <p:spPr>
          <a:xfrm>
            <a:off x="6096000" y="855405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7: Claim Status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Approval rate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Most claims approved.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956707-805B-F1F2-72BF-5EF49DFF5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61" y="2071574"/>
            <a:ext cx="4467225" cy="35718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C3BC67-5FE2-F0FC-706D-ED144DA29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147" y="2005400"/>
            <a:ext cx="4486275" cy="35956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770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32BE8-6F5E-F5AB-A380-3A99FDC87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EB335-7D22-EBD9-0225-4EBA081266C8}"/>
              </a:ext>
            </a:extLst>
          </p:cNvPr>
          <p:cNvSpPr txBox="1"/>
          <p:nvPr/>
        </p:nvSpPr>
        <p:spPr>
          <a:xfrm>
            <a:off x="0" y="6882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7E2C1-3FB7-B4A8-46DD-DFC4F5342867}"/>
              </a:ext>
            </a:extLst>
          </p:cNvPr>
          <p:cNvSpPr txBox="1"/>
          <p:nvPr/>
        </p:nvSpPr>
        <p:spPr>
          <a:xfrm>
            <a:off x="0" y="855406"/>
            <a:ext cx="6096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8: Payment Status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Payment success rate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Nearly equal split.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64308C-CE0C-CBE6-9CC3-42F52CC70677}"/>
              </a:ext>
            </a:extLst>
          </p:cNvPr>
          <p:cNvSpPr txBox="1"/>
          <p:nvPr/>
        </p:nvSpPr>
        <p:spPr>
          <a:xfrm>
            <a:off x="6096000" y="855405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9: Gender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Balanced distribution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Slight variation across genders.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CE460-3AD9-E1EB-E7ED-52F3824970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71"/>
          <a:stretch>
            <a:fillRect/>
          </a:stretch>
        </p:blipFill>
        <p:spPr>
          <a:xfrm>
            <a:off x="642477" y="2055734"/>
            <a:ext cx="4410000" cy="35708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BB56AA-DF0F-9B2B-1253-0E3691C7B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484" y="2046694"/>
            <a:ext cx="4503174" cy="35708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709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8617FB-4528-D994-526B-22D5F8339282}"/>
              </a:ext>
            </a:extLst>
          </p:cNvPr>
          <p:cNvSpPr txBox="1"/>
          <p:nvPr/>
        </p:nvSpPr>
        <p:spPr>
          <a:xfrm>
            <a:off x="0" y="6882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AB4182-79EF-8CD3-5EBE-EFF0DE4401F7}"/>
              </a:ext>
            </a:extLst>
          </p:cNvPr>
          <p:cNvSpPr txBox="1"/>
          <p:nvPr/>
        </p:nvSpPr>
        <p:spPr>
          <a:xfrm>
            <a:off x="0" y="1366707"/>
            <a:ext cx="1219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10: Total Claim Amount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Financial impact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251.4M claims.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727F7-86E1-15E3-6FF1-94BCFFEBE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902" y="2585884"/>
            <a:ext cx="4489976" cy="13548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8171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DEBCEF-6807-15A4-F13A-EA210FC2B654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B00BF2-C743-AA1B-E958-64AC2688B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35" y="653601"/>
            <a:ext cx="10707329" cy="60067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0330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B3483-1E68-73B1-FB49-5AE609DA0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3DA451-F2D7-CFE3-F1B8-CD8C35984764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9E1687-56FA-DF88-30D6-CBAFF2D06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4" y="663433"/>
            <a:ext cx="12015019" cy="59000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4363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EAC7B-13AA-CF36-207C-C688FD30D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846A48-2B96-DFDF-15D8-7A5B60950A5F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059F90-D353-87F0-9C95-649DB9615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753510"/>
            <a:ext cx="12034684" cy="5627625"/>
          </a:xfrm>
          <a:prstGeom prst="rect">
            <a:avLst/>
          </a:prstGeom>
          <a:ln w="38100" cap="sq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7217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A709-4CC8-5517-3838-7162818F0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5DAD32-FBF0-E035-68A7-B0BCB0E8102C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57438-9E5D-0D76-4E0B-F79DF9306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97" y="693173"/>
            <a:ext cx="6810374" cy="1676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9E5C0B-753D-DD1B-8EAB-2E5F262F7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96" y="2601093"/>
            <a:ext cx="6810375" cy="1685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E96112-90D9-483A-B5EF-D337DBE06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96" y="4518538"/>
            <a:ext cx="6810375" cy="169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1136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7AFB9-4895-46EF-264D-3C5863D81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CC0B40-0153-2EF3-ACFE-DDA78C3594F6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16CD27-699C-C683-AC7B-8AFF2627A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69" y="767991"/>
            <a:ext cx="4505325" cy="23526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238800-BE12-9C7C-CE25-ADAF78248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69" y="3429000"/>
            <a:ext cx="4505325" cy="23431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A2E5B3-0FBC-A528-A14D-DC93770ED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606" y="739416"/>
            <a:ext cx="4448175" cy="2381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A7C867-190B-931C-634C-4C6CBDD94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9606" y="3429000"/>
            <a:ext cx="4448175" cy="23431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6617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C590D-146A-7F35-F4CD-A1262551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4E380D-E4B0-5729-53AB-29E26D5832C3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BFFE2-83D3-2BA1-8D61-721E909EF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" y="684745"/>
            <a:ext cx="11975691" cy="20668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FCDC63-650A-9E37-BC12-FCFFD6C95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18" y="3192104"/>
            <a:ext cx="4152900" cy="2381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4D498B-7D07-65D2-9D08-EC9A1B31F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792" y="3154004"/>
            <a:ext cx="5143500" cy="24193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4033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D9FE-C624-CDAD-F85E-0BC23E6B0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2ACA0-25C3-1D1F-E362-C1C2DDD79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Suggestions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EC0599-1A24-1F68-7F40-9417451291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9368" y="1843121"/>
            <a:ext cx="994631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Business is growing steadily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Health policies are most popular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 claim approval rate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Renewal opportunities exist.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Focus on younger age groups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 payment success rate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Promote high-performing policies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Optimize claim process. </a:t>
            </a:r>
          </a:p>
        </p:txBody>
      </p:sp>
    </p:spTree>
    <p:extLst>
      <p:ext uri="{BB962C8B-B14F-4D97-AF65-F5344CB8AC3E}">
        <p14:creationId xmlns:p14="http://schemas.microsoft.com/office/powerpoint/2010/main" val="2786951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7A57-5FC5-257F-E696-AE044A337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120F5-01FC-5095-43DE-53209471C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Learnings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4FEE7A-5CCA-709F-7DA8-810E8AF8CC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3324" y="1870471"/>
            <a:ext cx="994631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issues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format errors in MySQL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 KPI calculations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formatting issues.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Overcome Challenge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Handled NULL values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aggregation functions correctly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visualization using proper dimensions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481339-7970-92FE-A4EF-01CD9389E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2154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196</TotalTime>
  <Words>344</Words>
  <Application>Microsoft Office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Retrospect</vt:lpstr>
      <vt:lpstr>PowerPoint Presentation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&amp; Suggestions</vt:lpstr>
      <vt:lpstr>Challenges &amp; Learnings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Gaikwad</dc:creator>
  <cp:lastModifiedBy>Rohan Gaikwad</cp:lastModifiedBy>
  <cp:revision>4</cp:revision>
  <dcterms:created xsi:type="dcterms:W3CDTF">2026-04-30T13:34:04Z</dcterms:created>
  <dcterms:modified xsi:type="dcterms:W3CDTF">2026-05-01T14:56:08Z</dcterms:modified>
</cp:coreProperties>
</file>